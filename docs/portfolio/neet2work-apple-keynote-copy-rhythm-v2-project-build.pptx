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" name="Google Shape;3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0" name="Google Shape;4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5" name="Google Shape;8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9" name="Google Shape;11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3" name="Google Shape;15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0" name="Google Shape;170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0" name="Google Shape;19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3" name="Google Shape;21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2" name="Google Shape;232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9" name="Google Shape;249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0" name="Google Shape;270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5" name="Google Shape;285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303"/>
          </a:solidFill>
          <a:ln cap="flat" cmpd="sng" w="9525">
            <a:solidFill>
              <a:srgbClr val="0303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00100" y="6858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C7C7CC"/>
                </a:solidFill>
                <a:latin typeface="Arial"/>
                <a:ea typeface="Arial"/>
                <a:cs typeface="Arial"/>
                <a:sym typeface="Arial"/>
              </a:rPr>
              <a:t>PORTFOLIO CASE STUDY</a:t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00100" y="1885950"/>
            <a:ext cx="6667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Neet2Work</a:t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838200" y="3105150"/>
            <a:ext cx="72390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F2F2F7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공고와 경험,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F2F2F7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자소서 작성까지 이어지는 하나의 흐름</a:t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838200" y="5314950"/>
            <a:ext cx="876300" cy="28575"/>
          </a:xfrm>
          <a:prstGeom prst="rect">
            <a:avLst/>
          </a:prstGeom>
          <a:solidFill>
            <a:srgbClr val="0A84FF"/>
          </a:solidFill>
          <a:ln cap="flat" cmpd="sng" w="9525">
            <a:solidFill>
              <a:srgbClr val="0A8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905000" y="5314950"/>
            <a:ext cx="876300" cy="28575"/>
          </a:xfrm>
          <a:prstGeom prst="rect">
            <a:avLst/>
          </a:prstGeom>
          <a:solidFill>
            <a:srgbClr val="30D158"/>
          </a:solidFill>
          <a:ln cap="flat" cmpd="sng" w="9525">
            <a:solidFill>
              <a:srgbClr val="30D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2971800" y="5314950"/>
            <a:ext cx="876300" cy="28575"/>
          </a:xfrm>
          <a:prstGeom prst="rect">
            <a:avLst/>
          </a:prstGeom>
          <a:solidFill>
            <a:srgbClr val="FF453A"/>
          </a:solidFill>
          <a:ln cap="flat" cmpd="sng" w="9525">
            <a:solidFill>
              <a:srgbClr val="FF45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838200" y="56388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1D1D6"/>
                </a:solidFill>
                <a:latin typeface="Arial"/>
                <a:ea typeface="Arial"/>
                <a:cs typeface="Arial"/>
                <a:sym typeface="Arial"/>
              </a:rPr>
              <a:t>Jobs  Documents  AI Draft</a:t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838200" y="63817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13">
                <a:solidFill>
                  <a:srgbClr val="74777D"/>
                </a:solidFill>
                <a:latin typeface="Arial"/>
                <a:ea typeface="Arial"/>
                <a:cs typeface="Arial"/>
                <a:sym typeface="Arial"/>
              </a:rPr>
              <a:t>Apple keynote-inspired deck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2"/>
          </a:solidFill>
          <a:ln cap="flat" cmpd="sng" w="9525">
            <a:solidFill>
              <a:srgbClr val="F5F5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685800" y="514350"/>
            <a:ext cx="3238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8E8E93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10668000" y="476250"/>
            <a:ext cx="819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8E8E93"/>
                </a:solidFill>
                <a:latin typeface="Arial"/>
                <a:ea typeface="Arial"/>
                <a:cs typeface="Arial"/>
                <a:sym typeface="Arial"/>
              </a:rPr>
              <a:t>02.</a:t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819150" y="1543050"/>
            <a:ext cx="7810500" cy="1943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25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취업 준비,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25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여러 화면에 흩어진 과정</a:t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876300" y="4000500"/>
            <a:ext cx="5905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5A6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공고 확인 · 자료 정리 · 초안 작성이 분리되면서 쉽게 끊어지는 맥락</a:t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876300" y="5219700"/>
            <a:ext cx="2857500" cy="28575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685800" y="63817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13">
                <a:solidFill>
                  <a:srgbClr val="A0A0A6"/>
                </a:solidFill>
                <a:latin typeface="Arial"/>
                <a:ea typeface="Arial"/>
                <a:cs typeface="Arial"/>
                <a:sym typeface="Arial"/>
              </a:rPr>
              <a:t>Source: project brief and README product scope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303"/>
          </a:solidFill>
          <a:ln cap="flat" cmpd="sng" w="9525">
            <a:solidFill>
              <a:srgbClr val="0303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685800" y="514350"/>
            <a:ext cx="3238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C7C7CC"/>
                </a:solidFill>
                <a:latin typeface="Arial"/>
                <a:ea typeface="Arial"/>
                <a:cs typeface="Arial"/>
                <a:sym typeface="Arial"/>
              </a:rPr>
              <a:t>PRODUCT IDEA</a:t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10668000" y="476250"/>
            <a:ext cx="819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C7C7CC"/>
                </a:solidFill>
                <a:latin typeface="Arial"/>
                <a:ea typeface="Arial"/>
                <a:cs typeface="Arial"/>
                <a:sym typeface="Arial"/>
              </a:rPr>
              <a:t>03.</a:t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685800" y="1104900"/>
            <a:ext cx="781050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 화면을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하나의 지원 준비 루프로</a:t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933450" y="3886200"/>
            <a:ext cx="2381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Jobs</a:t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933450" y="4591050"/>
            <a:ext cx="2000250" cy="28575"/>
          </a:xfrm>
          <a:prstGeom prst="rect">
            <a:avLst/>
          </a:prstGeom>
          <a:solidFill>
            <a:srgbClr val="0A84FF"/>
          </a:solidFill>
          <a:ln cap="flat" cmpd="sng" w="9525">
            <a:solidFill>
              <a:srgbClr val="0A8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933450" y="4972050"/>
            <a:ext cx="2476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D1D1D6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지원 기회 선택</a:t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4514850" y="3886200"/>
            <a:ext cx="2381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Documents</a:t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4514850" y="4591050"/>
            <a:ext cx="2000250" cy="28575"/>
          </a:xfrm>
          <a:prstGeom prst="rect">
            <a:avLst/>
          </a:prstGeom>
          <a:solidFill>
            <a:srgbClr val="30D158"/>
          </a:solidFill>
          <a:ln cap="flat" cmpd="sng" w="9525">
            <a:solidFill>
              <a:srgbClr val="30D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4514850" y="4972050"/>
            <a:ext cx="2476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D1D1D6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 자료 정리</a:t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8096250" y="3886200"/>
            <a:ext cx="2381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Draft</a:t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8096250" y="4591050"/>
            <a:ext cx="2000250" cy="28575"/>
          </a:xfrm>
          <a:prstGeom prst="rect">
            <a:avLst/>
          </a:prstGeom>
          <a:solidFill>
            <a:srgbClr val="FF453A"/>
          </a:solidFill>
          <a:ln cap="flat" cmpd="sng" w="9525">
            <a:solidFill>
              <a:srgbClr val="FF45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8096250" y="4972050"/>
            <a:ext cx="2476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D1D1D6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 기반 초안</a:t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685800" y="63817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13">
                <a:solidFill>
                  <a:srgbClr val="74777D"/>
                </a:solidFill>
                <a:latin typeface="Arial"/>
                <a:ea typeface="Arial"/>
                <a:cs typeface="Arial"/>
                <a:sym typeface="Arial"/>
              </a:rPr>
              <a:t>Source: README main pages and captured product screens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2"/>
          </a:solidFill>
          <a:ln cap="flat" cmpd="sng" w="9525">
            <a:solidFill>
              <a:srgbClr val="F5F5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"/>
          <p:cNvSpPr/>
          <p:nvPr/>
        </p:nvSpPr>
        <p:spPr>
          <a:xfrm>
            <a:off x="685800" y="514350"/>
            <a:ext cx="3238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8E8E93"/>
                </a:solidFill>
                <a:latin typeface="Arial"/>
                <a:ea typeface="Arial"/>
                <a:cs typeface="Arial"/>
                <a:sym typeface="Arial"/>
              </a:rPr>
              <a:t>HOW WE STARTED</a:t>
            </a: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10668000" y="476250"/>
            <a:ext cx="819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8E8E93"/>
                </a:solidFill>
                <a:latin typeface="Arial"/>
                <a:ea typeface="Arial"/>
                <a:cs typeface="Arial"/>
                <a:sym typeface="Arial"/>
              </a:rPr>
              <a:t>04.</a:t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685800" y="1238250"/>
            <a:ext cx="5905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50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작업 전,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50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뼈대를 세운 하네스</a:t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742950" y="3067050"/>
            <a:ext cx="5429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5A60"/>
                </a:solidFill>
                <a:latin typeface="Malgun Gothic"/>
                <a:ea typeface="Malgun Gothic"/>
                <a:cs typeface="Malgun Gothic"/>
                <a:sym typeface="Malgun Gothic"/>
              </a:rPr>
              <a:t>Goalplz로 목표와 완료 조건을 먼저 잠그고, AGENTS.md와 .codex/skills로 작업 규칙과 절차를 고정. README·setup·scripts로 실행, 검증, 기록 루프를 먼저 만들었다.</a:t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7429500" y="1476375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8E8E9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8096250" y="1390650"/>
            <a:ext cx="2857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Goalplz</a:t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8096250" y="1943100"/>
            <a:ext cx="2333625" cy="28575"/>
          </a:xfrm>
          <a:prstGeom prst="rect">
            <a:avLst/>
          </a:prstGeom>
          <a:solidFill>
            <a:srgbClr val="0A84FF"/>
          </a:solidFill>
          <a:ln cap="flat" cmpd="sng" w="9525">
            <a:solidFill>
              <a:srgbClr val="0A8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7429500" y="2257425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8E8E9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8096250" y="2171700"/>
            <a:ext cx="2857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AGENTS.md</a:t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8096250" y="2724150"/>
            <a:ext cx="2333625" cy="28575"/>
          </a:xfrm>
          <a:prstGeom prst="rect">
            <a:avLst/>
          </a:prstGeom>
          <a:solidFill>
            <a:srgbClr val="30D158"/>
          </a:solidFill>
          <a:ln cap="flat" cmpd="sng" w="9525">
            <a:solidFill>
              <a:srgbClr val="30D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7429500" y="3038475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8E8E9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8096250" y="2952750"/>
            <a:ext cx="2857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.codex Skills</a:t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8096250" y="3505200"/>
            <a:ext cx="2333625" cy="28575"/>
          </a:xfrm>
          <a:prstGeom prst="rect">
            <a:avLst/>
          </a:prstGeom>
          <a:solidFill>
            <a:srgbClr val="FF453A"/>
          </a:solidFill>
          <a:ln cap="flat" cmpd="sng" w="9525">
            <a:solidFill>
              <a:srgbClr val="FF45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7429500" y="3819525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8E8E93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8096250" y="3733800"/>
            <a:ext cx="2857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README / Setup</a:t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8096250" y="4286250"/>
            <a:ext cx="2333625" cy="28575"/>
          </a:xfrm>
          <a:prstGeom prst="rect">
            <a:avLst/>
          </a:prstGeom>
          <a:solidFill>
            <a:srgbClr val="FF9F0A"/>
          </a:solidFill>
          <a:ln cap="flat" cmpd="sng" w="9525">
            <a:solidFill>
              <a:srgbClr val="FF9F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7429500" y="4600575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8E8E93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8096250" y="4514850"/>
            <a:ext cx="2857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Scripts / Work Log</a:t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8096250" y="5067300"/>
            <a:ext cx="2333625" cy="28575"/>
          </a:xfrm>
          <a:prstGeom prst="rect">
            <a:avLst/>
          </a:prstGeom>
          <a:solidFill>
            <a:srgbClr val="C7C7CC"/>
          </a:solidFill>
          <a:ln cap="flat" cmpd="sng" w="9525">
            <a:solidFill>
              <a:srgbClr val="C7C7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685800" y="63817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13">
                <a:solidFill>
                  <a:srgbClr val="A0A0A6"/>
                </a:solidFill>
                <a:latin typeface="Arial"/>
                <a:ea typeface="Arial"/>
                <a:cs typeface="Arial"/>
                <a:sym typeface="Arial"/>
              </a:rPr>
              <a:t>Source: Goalplz, AGENTS.md, .codex/skills, README.md, setup/*, package.json, docs/work-log</a:t>
            </a:r>
            <a:endParaRPr/>
          </a:p>
        </p:txBody>
      </p:sp>
      <p:sp>
        <p:nvSpPr>
          <p:cNvPr id="82" name="Process detail 1"/>
          <p:cNvSpPr txBox="1"/>
          <p:nvPr/>
        </p:nvSpPr>
        <p:spPr>
          <a:xfrm>
            <a:off x="8096250" y="200025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050" dirty="0">
                <a:solidFill>
                  <a:srgbClr val="6B7280"/>
                </a:solidFill>
                <a:latin typeface="Arial"/>
                <a:ea typeface="Malgun Gothic"/>
              </a:rPr>
              <a:t>목표·완료 조건 고정</a:t>
            </a:r>
          </a:p>
        </p:txBody>
      </p:sp>
      <p:sp>
        <p:nvSpPr>
          <p:cNvPr id="83" name="Process detail 2"/>
          <p:cNvSpPr txBox="1"/>
          <p:nvPr/>
        </p:nvSpPr>
        <p:spPr>
          <a:xfrm>
            <a:off x="8096250" y="278130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050" dirty="0">
                <a:solidFill>
                  <a:srgbClr val="6B7280"/>
                </a:solidFill>
                <a:latin typeface="Arial"/>
                <a:ea typeface="Malgun Gothic"/>
              </a:rPr>
              <a:t>작업 규칙·금지선 확인</a:t>
            </a:r>
          </a:p>
        </p:txBody>
      </p:sp>
      <p:sp>
        <p:nvSpPr>
          <p:cNvPr id="84" name="Process detail 3"/>
          <p:cNvSpPr txBox="1"/>
          <p:nvPr/>
        </p:nvSpPr>
        <p:spPr>
          <a:xfrm>
            <a:off x="8096250" y="356235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050" dirty="0">
                <a:solidFill>
                  <a:srgbClr val="6B7280"/>
                </a:solidFill>
                <a:latin typeface="Arial"/>
                <a:ea typeface="Malgun Gothic"/>
              </a:rPr>
              <a:t>API·DB·구조 변경 절차</a:t>
            </a:r>
          </a:p>
        </p:txBody>
      </p:sp>
      <p:sp>
        <p:nvSpPr>
          <p:cNvPr id="85" name="Process detail 4"/>
          <p:cNvSpPr txBox="1"/>
          <p:nvPr/>
        </p:nvSpPr>
        <p:spPr>
          <a:xfrm>
            <a:off x="8096250" y="434340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050" dirty="0">
                <a:solidFill>
                  <a:srgbClr val="6B7280"/>
                </a:solidFill>
                <a:latin typeface="Arial"/>
                <a:ea typeface="Malgun Gothic"/>
              </a:rPr>
              <a:t>실행 계약·환경 셋업 기준</a:t>
            </a:r>
          </a:p>
        </p:txBody>
      </p:sp>
      <p:sp>
        <p:nvSpPr>
          <p:cNvPr id="86" name="Process detail 5"/>
          <p:cNvSpPr txBox="1"/>
          <p:nvPr/>
        </p:nvSpPr>
        <p:spPr>
          <a:xfrm>
            <a:off x="8096250" y="512445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050" dirty="0">
                <a:solidFill>
                  <a:srgbClr val="6B7280"/>
                </a:solidFill>
                <a:latin typeface="Arial"/>
                <a:ea typeface="Malgun Gothic"/>
              </a:rPr>
              <a:t>검증 명령·작업 기록 루프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685800" y="514350"/>
            <a:ext cx="3238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8E8E93"/>
                </a:solidFill>
                <a:latin typeface="Arial"/>
                <a:ea typeface="Arial"/>
                <a:cs typeface="Arial"/>
                <a:sym typeface="Arial"/>
              </a:rPr>
              <a:t>TECH STACK</a:t>
            </a:r>
            <a:endParaRPr/>
          </a:p>
        </p:txBody>
      </p:sp>
      <p:sp>
        <p:nvSpPr>
          <p:cNvPr id="89" name="Google Shape;89;p7"/>
          <p:cNvSpPr/>
          <p:nvPr/>
        </p:nvSpPr>
        <p:spPr>
          <a:xfrm>
            <a:off x="10668000" y="476250"/>
            <a:ext cx="819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8E8E93"/>
                </a:solidFill>
                <a:latin typeface="Arial"/>
                <a:ea typeface="Arial"/>
                <a:cs typeface="Arial"/>
                <a:sym typeface="Arial"/>
              </a:rPr>
              <a:t>05.</a:t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685800" y="1066800"/>
            <a:ext cx="6096000" cy="1847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안정적인 데모,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확장 가능한 구조</a:t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742950" y="3295650"/>
            <a:ext cx="58102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5A6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프론트는 REST API 기준으로 연결. 백엔드는 검증, AI 제공자 선택, fallback 처리 담당</a:t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7239000" y="12573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A84FF"/>
                </a:solidFill>
                <a:latin typeface="Arial"/>
                <a:ea typeface="Arial"/>
                <a:cs typeface="Arial"/>
                <a:sym typeface="Arial"/>
              </a:rPr>
              <a:t>React 19</a:t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7239000" y="1619250"/>
            <a:ext cx="1257300" cy="28575"/>
          </a:xfrm>
          <a:prstGeom prst="rect">
            <a:avLst/>
          </a:prstGeom>
          <a:solidFill>
            <a:srgbClr val="ECECEA"/>
          </a:solidFill>
          <a:ln cap="flat" cmpd="sng" w="9525">
            <a:solidFill>
              <a:srgbClr val="ECE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8877300" y="12573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0D158"/>
                </a:solidFill>
                <a:latin typeface="Arial"/>
                <a:ea typeface="Arial"/>
                <a:cs typeface="Arial"/>
                <a:sym typeface="Arial"/>
              </a:rPr>
              <a:t>TypeScript</a:t>
            </a: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8877300" y="1619250"/>
            <a:ext cx="1257300" cy="28575"/>
          </a:xfrm>
          <a:prstGeom prst="rect">
            <a:avLst/>
          </a:prstGeom>
          <a:solidFill>
            <a:srgbClr val="ECECEA"/>
          </a:solidFill>
          <a:ln cap="flat" cmpd="sng" w="9525">
            <a:solidFill>
              <a:srgbClr val="ECE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7239000" y="18859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453A"/>
                </a:solidFill>
                <a:latin typeface="Arial"/>
                <a:ea typeface="Arial"/>
                <a:cs typeface="Arial"/>
                <a:sym typeface="Arial"/>
              </a:rPr>
              <a:t>Vite 7</a:t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7239000" y="2247900"/>
            <a:ext cx="1257300" cy="28575"/>
          </a:xfrm>
          <a:prstGeom prst="rect">
            <a:avLst/>
          </a:prstGeom>
          <a:solidFill>
            <a:srgbClr val="ECECEA"/>
          </a:solidFill>
          <a:ln cap="flat" cmpd="sng" w="9525">
            <a:solidFill>
              <a:srgbClr val="ECE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8877300" y="18859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A84FF"/>
                </a:solidFill>
                <a:latin typeface="Arial"/>
                <a:ea typeface="Arial"/>
                <a:cs typeface="Arial"/>
                <a:sym typeface="Arial"/>
              </a:rPr>
              <a:t>Express 5</a:t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8877300" y="2247900"/>
            <a:ext cx="1257300" cy="28575"/>
          </a:xfrm>
          <a:prstGeom prst="rect">
            <a:avLst/>
          </a:prstGeom>
          <a:solidFill>
            <a:srgbClr val="ECECEA"/>
          </a:solidFill>
          <a:ln cap="flat" cmpd="sng" w="9525">
            <a:solidFill>
              <a:srgbClr val="ECE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7239000" y="25146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0D158"/>
                </a:solidFill>
                <a:latin typeface="Arial"/>
                <a:ea typeface="Arial"/>
                <a:cs typeface="Arial"/>
                <a:sym typeface="Arial"/>
              </a:rPr>
              <a:t>Zod</a:t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7239000" y="2876550"/>
            <a:ext cx="1257300" cy="28575"/>
          </a:xfrm>
          <a:prstGeom prst="rect">
            <a:avLst/>
          </a:prstGeom>
          <a:solidFill>
            <a:srgbClr val="ECECEA"/>
          </a:solidFill>
          <a:ln cap="flat" cmpd="sng" w="9525">
            <a:solidFill>
              <a:srgbClr val="ECE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8877300" y="25146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453A"/>
                </a:solidFill>
                <a:latin typeface="Arial"/>
                <a:ea typeface="Arial"/>
                <a:cs typeface="Arial"/>
                <a:sym typeface="Arial"/>
              </a:rPr>
              <a:t>Prisma 7</a:t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8877300" y="2876550"/>
            <a:ext cx="1257300" cy="28575"/>
          </a:xfrm>
          <a:prstGeom prst="rect">
            <a:avLst/>
          </a:prstGeom>
          <a:solidFill>
            <a:srgbClr val="ECECEA"/>
          </a:solidFill>
          <a:ln cap="flat" cmpd="sng" w="9525">
            <a:solidFill>
              <a:srgbClr val="ECE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7239000" y="31432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A84FF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7239000" y="3505200"/>
            <a:ext cx="1257300" cy="28575"/>
          </a:xfrm>
          <a:prstGeom prst="rect">
            <a:avLst/>
          </a:prstGeom>
          <a:solidFill>
            <a:srgbClr val="ECECEA"/>
          </a:solidFill>
          <a:ln cap="flat" cmpd="sng" w="9525">
            <a:solidFill>
              <a:srgbClr val="ECE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8877300" y="31432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0D158"/>
                </a:solidFill>
                <a:latin typeface="Arial"/>
                <a:ea typeface="Arial"/>
                <a:cs typeface="Arial"/>
                <a:sym typeface="Arial"/>
              </a:rPr>
              <a:t>Codex Bridge</a:t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8877300" y="3505200"/>
            <a:ext cx="1257300" cy="28575"/>
          </a:xfrm>
          <a:prstGeom prst="rect">
            <a:avLst/>
          </a:prstGeom>
          <a:solidFill>
            <a:srgbClr val="ECECEA"/>
          </a:solidFill>
          <a:ln cap="flat" cmpd="sng" w="9525">
            <a:solidFill>
              <a:srgbClr val="ECE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7239000" y="37719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453A"/>
                </a:solidFill>
                <a:latin typeface="Arial"/>
                <a:ea typeface="Arial"/>
                <a:cs typeface="Arial"/>
                <a:sym typeface="Arial"/>
              </a:rPr>
              <a:t>Gemini</a:t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7239000" y="4133850"/>
            <a:ext cx="1257300" cy="28575"/>
          </a:xfrm>
          <a:prstGeom prst="rect">
            <a:avLst/>
          </a:prstGeom>
          <a:solidFill>
            <a:srgbClr val="ECECEA"/>
          </a:solidFill>
          <a:ln cap="flat" cmpd="sng" w="9525">
            <a:solidFill>
              <a:srgbClr val="ECE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8877300" y="37719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A84FF"/>
                </a:solidFill>
                <a:latin typeface="Arial"/>
                <a:ea typeface="Arial"/>
                <a:cs typeface="Arial"/>
                <a:sym typeface="Arial"/>
              </a:rPr>
              <a:t>Fallback</a:t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8877300" y="4133850"/>
            <a:ext cx="1257300" cy="28575"/>
          </a:xfrm>
          <a:prstGeom prst="rect">
            <a:avLst/>
          </a:prstGeom>
          <a:solidFill>
            <a:srgbClr val="ECECEA"/>
          </a:solidFill>
          <a:ln cap="flat" cmpd="sng" w="9525">
            <a:solidFill>
              <a:srgbClr val="ECE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742950" y="5105400"/>
            <a:ext cx="8382000" cy="28575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742950" y="5391150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E8E93"/>
                </a:solidFill>
                <a:latin typeface="Arial"/>
                <a:ea typeface="Arial"/>
                <a:cs typeface="Arial"/>
                <a:sym typeface="Arial"/>
              </a:rPr>
              <a:t>Frontend calls REST API only</a:t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4114800" y="5391150"/>
            <a:ext cx="3714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E8E93"/>
                </a:solidFill>
                <a:latin typeface="Arial"/>
                <a:ea typeface="Arial"/>
                <a:cs typeface="Arial"/>
                <a:sym typeface="Arial"/>
              </a:rPr>
              <a:t>Backend owns validation + routing + fallback</a:t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685800" y="63817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13">
                <a:solidFill>
                  <a:srgbClr val="A0A0A6"/>
                </a:solidFill>
                <a:latin typeface="Arial"/>
                <a:ea typeface="Arial"/>
                <a:cs typeface="Arial"/>
                <a:sym typeface="Arial"/>
              </a:rPr>
              <a:t>Source: README tech stack and docs/ARCHITECTURE.md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2"/>
          </a:solidFill>
          <a:ln cap="flat" cmpd="sng" w="9525">
            <a:solidFill>
              <a:srgbClr val="F5F5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685800" y="514350"/>
            <a:ext cx="3238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8E8E93"/>
                </a:solidFill>
                <a:latin typeface="Arial"/>
                <a:ea typeface="Arial"/>
                <a:cs typeface="Arial"/>
                <a:sym typeface="Arial"/>
              </a:rPr>
              <a:t>JOBS</a:t>
            </a: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10668000" y="476250"/>
            <a:ext cx="819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8E8E93"/>
                </a:solidFill>
                <a:latin typeface="Arial"/>
                <a:ea typeface="Arial"/>
                <a:cs typeface="Arial"/>
                <a:sym typeface="Arial"/>
              </a:rPr>
              <a:t>06.</a:t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685800" y="1409700"/>
            <a:ext cx="409575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먼저,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지원할 공고 선택</a:t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704850" y="3657600"/>
            <a:ext cx="3714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5A6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자소서 작성에 필요한 직무 맥락을 고르는 출발점</a:t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5638800" y="1181100"/>
            <a:ext cx="4857750" cy="38290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5638800" y="1181100"/>
            <a:ext cx="4857750" cy="323850"/>
          </a:xfrm>
          <a:prstGeom prst="rect">
            <a:avLst/>
          </a:prstGeom>
          <a:solidFill>
            <a:srgbClr val="F4F4F5"/>
          </a:solidFill>
          <a:ln cap="flat" cmpd="sng" w="9525">
            <a:solidFill>
              <a:srgbClr val="E1E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5829300" y="1295400"/>
            <a:ext cx="66675" cy="66675"/>
          </a:xfrm>
          <a:prstGeom prst="rect">
            <a:avLst/>
          </a:prstGeom>
          <a:solidFill>
            <a:srgbClr val="FF453A"/>
          </a:solidFill>
          <a:ln cap="flat" cmpd="sng" w="9525">
            <a:solidFill>
              <a:srgbClr val="FF45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5991225" y="1295400"/>
            <a:ext cx="66675" cy="66675"/>
          </a:xfrm>
          <a:prstGeom prst="rect">
            <a:avLst/>
          </a:prstGeom>
          <a:solidFill>
            <a:srgbClr val="FF9F0A"/>
          </a:solidFill>
          <a:ln cap="flat" cmpd="sng" w="9525">
            <a:solidFill>
              <a:srgbClr val="FF9F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6153150" y="1295400"/>
            <a:ext cx="66675" cy="66675"/>
          </a:xfrm>
          <a:prstGeom prst="rect">
            <a:avLst/>
          </a:prstGeom>
          <a:solidFill>
            <a:srgbClr val="30D158"/>
          </a:solidFill>
          <a:ln cap="flat" cmpd="sng" w="9525">
            <a:solidFill>
              <a:srgbClr val="30D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2150" y="1884331"/>
            <a:ext cx="4591050" cy="26130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8"/>
          <p:cNvSpPr/>
          <p:nvPr/>
        </p:nvSpPr>
        <p:spPr>
          <a:xfrm>
            <a:off x="685800" y="63817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13">
                <a:solidFill>
                  <a:srgbClr val="A0A0A6"/>
                </a:solidFill>
                <a:latin typeface="Arial"/>
                <a:ea typeface="Arial"/>
                <a:cs typeface="Arial"/>
                <a:sym typeface="Arial"/>
              </a:rPr>
              <a:t>Source: captured frontend screen 02-jobs-list.png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303"/>
          </a:solidFill>
          <a:ln cap="flat" cmpd="sng" w="9525">
            <a:solidFill>
              <a:srgbClr val="0303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685800" y="514350"/>
            <a:ext cx="3238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C7C7CC"/>
                </a:solidFill>
                <a:latin typeface="Arial"/>
                <a:ea typeface="Arial"/>
                <a:cs typeface="Arial"/>
                <a:sym typeface="Arial"/>
              </a:rPr>
              <a:t>JOB CONTEXT</a:t>
            </a:r>
            <a:endParaRPr/>
          </a:p>
        </p:txBody>
      </p:sp>
      <p:sp>
        <p:nvSpPr>
          <p:cNvPr id="140" name="Google Shape;140;p9"/>
          <p:cNvSpPr/>
          <p:nvPr/>
        </p:nvSpPr>
        <p:spPr>
          <a:xfrm>
            <a:off x="10668000" y="476250"/>
            <a:ext cx="819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C7C7CC"/>
                </a:solidFill>
                <a:latin typeface="Arial"/>
                <a:ea typeface="Arial"/>
                <a:cs typeface="Arial"/>
                <a:sym typeface="Arial"/>
              </a:rPr>
              <a:t>07.</a:t>
            </a:r>
            <a:endParaRPr/>
          </a:p>
        </p:txBody>
      </p:sp>
      <p:sp>
        <p:nvSpPr>
          <p:cNvPr id="141" name="Google Shape;141;p9"/>
          <p:cNvSpPr/>
          <p:nvPr/>
        </p:nvSpPr>
        <p:spPr>
          <a:xfrm>
            <a:off x="7429500" y="1409700"/>
            <a:ext cx="409575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선택한 공고,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초안의 작성 기준</a:t>
            </a:r>
            <a:endParaRPr/>
          </a:p>
        </p:txBody>
      </p:sp>
      <p:sp>
        <p:nvSpPr>
          <p:cNvPr id="142" name="Google Shape;142;p9"/>
          <p:cNvSpPr/>
          <p:nvPr/>
        </p:nvSpPr>
        <p:spPr>
          <a:xfrm>
            <a:off x="7448550" y="3657600"/>
            <a:ext cx="3714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D1D1D6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회사 · 직무 · 스킬 · 설명 정보가 이후 초안의 방향을 설정</a:t>
            </a: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685800" y="1181100"/>
            <a:ext cx="4857750" cy="3829050"/>
          </a:xfrm>
          <a:prstGeom prst="rect">
            <a:avLst/>
          </a:prstGeom>
          <a:solidFill>
            <a:srgbClr val="1C1C1E"/>
          </a:solidFill>
          <a:ln cap="flat" cmpd="sng" w="9525">
            <a:solidFill>
              <a:srgbClr val="3A3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685800" y="1181100"/>
            <a:ext cx="4857750" cy="323850"/>
          </a:xfrm>
          <a:prstGeom prst="rect">
            <a:avLst/>
          </a:prstGeom>
          <a:solidFill>
            <a:srgbClr val="111113"/>
          </a:solidFill>
          <a:ln cap="flat" cmpd="sng" w="9525">
            <a:solidFill>
              <a:srgbClr val="3A3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876300" y="1295400"/>
            <a:ext cx="66675" cy="66675"/>
          </a:xfrm>
          <a:prstGeom prst="rect">
            <a:avLst/>
          </a:prstGeom>
          <a:solidFill>
            <a:srgbClr val="FF453A"/>
          </a:solidFill>
          <a:ln cap="flat" cmpd="sng" w="9525">
            <a:solidFill>
              <a:srgbClr val="FF45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1038225" y="1295400"/>
            <a:ext cx="66675" cy="66675"/>
          </a:xfrm>
          <a:prstGeom prst="rect">
            <a:avLst/>
          </a:prstGeom>
          <a:solidFill>
            <a:srgbClr val="FF9F0A"/>
          </a:solidFill>
          <a:ln cap="flat" cmpd="sng" w="9525">
            <a:solidFill>
              <a:srgbClr val="FF9F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1200150" y="1295400"/>
            <a:ext cx="66675" cy="66675"/>
          </a:xfrm>
          <a:prstGeom prst="rect">
            <a:avLst/>
          </a:prstGeom>
          <a:solidFill>
            <a:srgbClr val="30D158"/>
          </a:solidFill>
          <a:ln cap="flat" cmpd="sng" w="9525">
            <a:solidFill>
              <a:srgbClr val="30D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150" y="1884331"/>
            <a:ext cx="4591050" cy="2613088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9"/>
          <p:cNvSpPr/>
          <p:nvPr/>
        </p:nvSpPr>
        <p:spPr>
          <a:xfrm>
            <a:off x="685800" y="63817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13">
                <a:solidFill>
                  <a:srgbClr val="74777D"/>
                </a:solidFill>
                <a:latin typeface="Arial"/>
                <a:ea typeface="Arial"/>
                <a:cs typeface="Arial"/>
                <a:sym typeface="Arial"/>
              </a:rPr>
              <a:t>Source: captured frontend screen 03-jobs-detail-drawer.png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2"/>
          </a:solidFill>
          <a:ln cap="flat" cmpd="sng" w="9525">
            <a:solidFill>
              <a:srgbClr val="F5F5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685800" y="514350"/>
            <a:ext cx="3238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8E8E93"/>
                </a:solidFill>
                <a:latin typeface="Arial"/>
                <a:ea typeface="Arial"/>
                <a:cs typeface="Arial"/>
                <a:sym typeface="Arial"/>
              </a:rPr>
              <a:t>DOCUMENTS</a:t>
            </a:r>
            <a:endParaRPr/>
          </a:p>
        </p:txBody>
      </p:sp>
      <p:sp>
        <p:nvSpPr>
          <p:cNvPr id="157" name="Google Shape;157;p10"/>
          <p:cNvSpPr/>
          <p:nvPr/>
        </p:nvSpPr>
        <p:spPr>
          <a:xfrm>
            <a:off x="10668000" y="476250"/>
            <a:ext cx="819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8E8E93"/>
                </a:solidFill>
                <a:latin typeface="Arial"/>
                <a:ea typeface="Arial"/>
                <a:cs typeface="Arial"/>
                <a:sym typeface="Arial"/>
              </a:rPr>
              <a:t>08.</a:t>
            </a:r>
            <a:endParaRPr/>
          </a:p>
        </p:txBody>
      </p:sp>
      <p:sp>
        <p:nvSpPr>
          <p:cNvPr id="158" name="Google Shape;158;p10"/>
          <p:cNvSpPr/>
          <p:nvPr/>
        </p:nvSpPr>
        <p:spPr>
          <a:xfrm>
            <a:off x="685800" y="1409700"/>
            <a:ext cx="409575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자료,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AI가 활용할 근거로</a:t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704850" y="3657600"/>
            <a:ext cx="3714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5A60"/>
                </a:solidFill>
                <a:latin typeface="Malgun Gothic"/>
                <a:ea typeface="Malgun Gothic"/>
                <a:cs typeface="Malgun Gothic"/>
                <a:sym typeface="Malgun Gothic"/>
              </a:rPr>
              <a:t>첨부 자료와 경험을 초안 작성 재료로 정리하는 지점</a:t>
            </a:r>
            <a:endParaRPr/>
          </a:p>
        </p:txBody>
      </p:sp>
      <p:sp>
        <p:nvSpPr>
          <p:cNvPr id="160" name="Google Shape;160;p10"/>
          <p:cNvSpPr/>
          <p:nvPr/>
        </p:nvSpPr>
        <p:spPr>
          <a:xfrm>
            <a:off x="5638800" y="1181100"/>
            <a:ext cx="4857750" cy="38290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"/>
          <p:cNvSpPr/>
          <p:nvPr/>
        </p:nvSpPr>
        <p:spPr>
          <a:xfrm>
            <a:off x="5638800" y="1181100"/>
            <a:ext cx="4857750" cy="323850"/>
          </a:xfrm>
          <a:prstGeom prst="rect">
            <a:avLst/>
          </a:prstGeom>
          <a:solidFill>
            <a:srgbClr val="F4F4F5"/>
          </a:solidFill>
          <a:ln cap="flat" cmpd="sng" w="9525">
            <a:solidFill>
              <a:srgbClr val="E1E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"/>
          <p:cNvSpPr/>
          <p:nvPr/>
        </p:nvSpPr>
        <p:spPr>
          <a:xfrm>
            <a:off x="5829300" y="1295400"/>
            <a:ext cx="66675" cy="66675"/>
          </a:xfrm>
          <a:prstGeom prst="rect">
            <a:avLst/>
          </a:prstGeom>
          <a:solidFill>
            <a:srgbClr val="FF453A"/>
          </a:solidFill>
          <a:ln cap="flat" cmpd="sng" w="9525">
            <a:solidFill>
              <a:srgbClr val="FF45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5991225" y="1295400"/>
            <a:ext cx="66675" cy="66675"/>
          </a:xfrm>
          <a:prstGeom prst="rect">
            <a:avLst/>
          </a:prstGeom>
          <a:solidFill>
            <a:srgbClr val="FF9F0A"/>
          </a:solidFill>
          <a:ln cap="flat" cmpd="sng" w="9525">
            <a:solidFill>
              <a:srgbClr val="FF9F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6153150" y="1295400"/>
            <a:ext cx="66675" cy="66675"/>
          </a:xfrm>
          <a:prstGeom prst="rect">
            <a:avLst/>
          </a:prstGeom>
          <a:solidFill>
            <a:srgbClr val="30D158"/>
          </a:solidFill>
          <a:ln cap="flat" cmpd="sng" w="9525">
            <a:solidFill>
              <a:srgbClr val="30D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2150" y="1884331"/>
            <a:ext cx="4591050" cy="261308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0"/>
          <p:cNvSpPr/>
          <p:nvPr/>
        </p:nvSpPr>
        <p:spPr>
          <a:xfrm>
            <a:off x="685800" y="63817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13">
                <a:solidFill>
                  <a:srgbClr val="A0A0A6"/>
                </a:solidFill>
                <a:latin typeface="Arial"/>
                <a:ea typeface="Arial"/>
                <a:cs typeface="Arial"/>
                <a:sym typeface="Arial"/>
              </a:rPr>
              <a:t>Source: captured frontend screen 05-documents.png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303"/>
          </a:solidFill>
          <a:ln cap="flat" cmpd="sng" w="9525">
            <a:solidFill>
              <a:srgbClr val="0303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"/>
          <p:cNvSpPr/>
          <p:nvPr/>
        </p:nvSpPr>
        <p:spPr>
          <a:xfrm>
            <a:off x="685800" y="514350"/>
            <a:ext cx="3238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C7C7CC"/>
                </a:solidFill>
                <a:latin typeface="Arial"/>
                <a:ea typeface="Arial"/>
                <a:cs typeface="Arial"/>
                <a:sym typeface="Arial"/>
              </a:rPr>
              <a:t>AI DRAFT</a:t>
            </a:r>
            <a:endParaRPr/>
          </a:p>
        </p:txBody>
      </p:sp>
      <p:sp>
        <p:nvSpPr>
          <p:cNvPr id="174" name="Google Shape;174;p11"/>
          <p:cNvSpPr/>
          <p:nvPr/>
        </p:nvSpPr>
        <p:spPr>
          <a:xfrm>
            <a:off x="10668000" y="476250"/>
            <a:ext cx="819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C7C7CC"/>
                </a:solidFill>
                <a:latin typeface="Arial"/>
                <a:ea typeface="Arial"/>
                <a:cs typeface="Arial"/>
                <a:sym typeface="Arial"/>
              </a:rPr>
              <a:t>09.</a:t>
            </a:r>
            <a:endParaRPr/>
          </a:p>
        </p:txBody>
      </p:sp>
      <p:sp>
        <p:nvSpPr>
          <p:cNvPr id="175" name="Google Shape;175;p11"/>
          <p:cNvSpPr/>
          <p:nvPr/>
        </p:nvSpPr>
        <p:spPr>
          <a:xfrm>
            <a:off x="685800" y="1123950"/>
            <a:ext cx="4762500" cy="1638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25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자소서 페이지,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25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작성과 검수를 한곳에서</a:t>
            </a:r>
            <a:endParaRPr/>
          </a:p>
        </p:txBody>
      </p:sp>
      <p:sp>
        <p:nvSpPr>
          <p:cNvPr id="176" name="Google Shape;176;p11"/>
          <p:cNvSpPr/>
          <p:nvPr/>
        </p:nvSpPr>
        <p:spPr>
          <a:xfrm>
            <a:off x="742950" y="3238500"/>
            <a:ext cx="4572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D1D1D6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요청과 자료 입력, 선택 공고, AI 상태, 문서 코치 맥락 확인</a:t>
            </a:r>
            <a:endParaRPr/>
          </a:p>
        </p:txBody>
      </p:sp>
      <p:sp>
        <p:nvSpPr>
          <p:cNvPr id="177" name="Google Shape;177;p11"/>
          <p:cNvSpPr/>
          <p:nvPr/>
        </p:nvSpPr>
        <p:spPr>
          <a:xfrm>
            <a:off x="5562600" y="1085850"/>
            <a:ext cx="4781550" cy="3886200"/>
          </a:xfrm>
          <a:prstGeom prst="rect">
            <a:avLst/>
          </a:prstGeom>
          <a:solidFill>
            <a:srgbClr val="1C1C1E"/>
          </a:solidFill>
          <a:ln cap="flat" cmpd="sng" w="9525">
            <a:solidFill>
              <a:srgbClr val="3A3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"/>
          <p:cNvSpPr/>
          <p:nvPr/>
        </p:nvSpPr>
        <p:spPr>
          <a:xfrm>
            <a:off x="5562600" y="1085850"/>
            <a:ext cx="4781550" cy="323850"/>
          </a:xfrm>
          <a:prstGeom prst="rect">
            <a:avLst/>
          </a:prstGeom>
          <a:solidFill>
            <a:srgbClr val="111113"/>
          </a:solidFill>
          <a:ln cap="flat" cmpd="sng" w="9525">
            <a:solidFill>
              <a:srgbClr val="3A3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"/>
          <p:cNvSpPr/>
          <p:nvPr/>
        </p:nvSpPr>
        <p:spPr>
          <a:xfrm>
            <a:off x="5753100" y="1200150"/>
            <a:ext cx="66675" cy="66675"/>
          </a:xfrm>
          <a:prstGeom prst="rect">
            <a:avLst/>
          </a:prstGeom>
          <a:solidFill>
            <a:srgbClr val="FF453A"/>
          </a:solidFill>
          <a:ln cap="flat" cmpd="sng" w="9525">
            <a:solidFill>
              <a:srgbClr val="FF45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"/>
          <p:cNvSpPr/>
          <p:nvPr/>
        </p:nvSpPr>
        <p:spPr>
          <a:xfrm>
            <a:off x="5915025" y="1200150"/>
            <a:ext cx="66675" cy="66675"/>
          </a:xfrm>
          <a:prstGeom prst="rect">
            <a:avLst/>
          </a:prstGeom>
          <a:solidFill>
            <a:srgbClr val="FF9F0A"/>
          </a:solidFill>
          <a:ln cap="flat" cmpd="sng" w="9525">
            <a:solidFill>
              <a:srgbClr val="FF9F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"/>
          <p:cNvSpPr/>
          <p:nvPr/>
        </p:nvSpPr>
        <p:spPr>
          <a:xfrm>
            <a:off x="6076950" y="1200150"/>
            <a:ext cx="66675" cy="66675"/>
          </a:xfrm>
          <a:prstGeom prst="rect">
            <a:avLst/>
          </a:prstGeom>
          <a:solidFill>
            <a:srgbClr val="30D158"/>
          </a:solidFill>
          <a:ln cap="flat" cmpd="sng" w="9525">
            <a:solidFill>
              <a:srgbClr val="30D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5950" y="1839342"/>
            <a:ext cx="4514850" cy="256971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1"/>
          <p:cNvSpPr/>
          <p:nvPr/>
        </p:nvSpPr>
        <p:spPr>
          <a:xfrm>
            <a:off x="742950" y="49530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A84FF"/>
                </a:solidFill>
                <a:latin typeface="Arial"/>
                <a:ea typeface="Arial"/>
                <a:cs typeface="Arial"/>
                <a:sym typeface="Arial"/>
              </a:rPr>
              <a:t>AI 상태 확인</a:t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742950" y="52959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30D158"/>
                </a:solidFill>
                <a:latin typeface="Arial"/>
                <a:ea typeface="Arial"/>
                <a:cs typeface="Arial"/>
                <a:sym typeface="Arial"/>
              </a:rPr>
              <a:t>선택 공고 반영</a:t>
            </a:r>
            <a:endParaRPr/>
          </a:p>
        </p:txBody>
      </p:sp>
      <p:sp>
        <p:nvSpPr>
          <p:cNvPr id="185" name="Google Shape;185;p11"/>
          <p:cNvSpPr/>
          <p:nvPr/>
        </p:nvSpPr>
        <p:spPr>
          <a:xfrm>
            <a:off x="742950" y="56388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FF453A"/>
                </a:solidFill>
                <a:latin typeface="Arial"/>
                <a:ea typeface="Arial"/>
                <a:cs typeface="Arial"/>
                <a:sym typeface="Arial"/>
              </a:rPr>
              <a:t>검수 메모 확인</a:t>
            </a:r>
            <a:endParaRPr/>
          </a:p>
        </p:txBody>
      </p:sp>
      <p:sp>
        <p:nvSpPr>
          <p:cNvPr id="186" name="Google Shape;186;p11"/>
          <p:cNvSpPr/>
          <p:nvPr/>
        </p:nvSpPr>
        <p:spPr>
          <a:xfrm>
            <a:off x="685800" y="63817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13">
                <a:solidFill>
                  <a:srgbClr val="74777D"/>
                </a:solidFill>
                <a:latin typeface="Arial"/>
                <a:ea typeface="Arial"/>
                <a:cs typeface="Arial"/>
                <a:sym typeface="Arial"/>
              </a:rPr>
              <a:t>Source: captured /ai-analysis screen and provider routing contract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2"/>
          </a:solidFill>
          <a:ln cap="flat" cmpd="sng" w="9525">
            <a:solidFill>
              <a:srgbClr val="F5F5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2"/>
          <p:cNvSpPr/>
          <p:nvPr/>
        </p:nvSpPr>
        <p:spPr>
          <a:xfrm>
            <a:off x="685800" y="514350"/>
            <a:ext cx="3238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8E8E93"/>
                </a:solidFill>
                <a:latin typeface="Arial"/>
                <a:ea typeface="Arial"/>
                <a:cs typeface="Arial"/>
                <a:sym typeface="Arial"/>
              </a:rPr>
              <a:t>PRINCIPLE 1</a:t>
            </a:r>
            <a:endParaRPr/>
          </a:p>
        </p:txBody>
      </p:sp>
      <p:sp>
        <p:nvSpPr>
          <p:cNvPr id="194" name="Google Shape;194;p12"/>
          <p:cNvSpPr/>
          <p:nvPr/>
        </p:nvSpPr>
        <p:spPr>
          <a:xfrm>
            <a:off x="10668000" y="476250"/>
            <a:ext cx="819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8E8E93"/>
                </a:solidFill>
                <a:latin typeface="Arial"/>
                <a:ea typeface="Arial"/>
                <a:cs typeface="Arial"/>
                <a:sym typeface="Arial"/>
              </a:rPr>
              <a:t>10.</a:t>
            </a:r>
            <a:endParaRPr/>
          </a:p>
        </p:txBody>
      </p:sp>
      <p:sp>
        <p:nvSpPr>
          <p:cNvPr id="195" name="Google Shape;195;p12"/>
          <p:cNvSpPr/>
          <p:nvPr/>
        </p:nvSpPr>
        <p:spPr>
          <a:xfrm>
            <a:off x="685800" y="1257300"/>
            <a:ext cx="647700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 전,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요구사항부터 고정</a:t>
            </a:r>
            <a:endParaRPr/>
          </a:p>
        </p:txBody>
      </p:sp>
      <p:sp>
        <p:nvSpPr>
          <p:cNvPr id="196" name="Google Shape;196;p12"/>
          <p:cNvSpPr/>
          <p:nvPr/>
        </p:nvSpPr>
        <p:spPr>
          <a:xfrm>
            <a:off x="742950" y="3200400"/>
            <a:ext cx="58102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5A6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문항 요구사항을 먼저 정리한 뒤 초안 생성. 멋진 문장보다 지켜야 할 조건에서 출발</a:t>
            </a:r>
            <a:endParaRPr/>
          </a:p>
        </p:txBody>
      </p:sp>
      <p:sp>
        <p:nvSpPr>
          <p:cNvPr id="197" name="Google Shape;197;p12"/>
          <p:cNvSpPr/>
          <p:nvPr/>
        </p:nvSpPr>
        <p:spPr>
          <a:xfrm>
            <a:off x="7543800" y="1514475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8E8E9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98" name="Google Shape;198;p12"/>
          <p:cNvSpPr/>
          <p:nvPr/>
        </p:nvSpPr>
        <p:spPr>
          <a:xfrm>
            <a:off x="8134350" y="1466850"/>
            <a:ext cx="2667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문항 요구사항</a:t>
            </a:r>
            <a:endParaRPr/>
          </a:p>
        </p:txBody>
      </p:sp>
      <p:sp>
        <p:nvSpPr>
          <p:cNvPr id="199" name="Google Shape;199;p12"/>
          <p:cNvSpPr/>
          <p:nvPr/>
        </p:nvSpPr>
        <p:spPr>
          <a:xfrm>
            <a:off x="8134350" y="1905000"/>
            <a:ext cx="2152650" cy="28575"/>
          </a:xfrm>
          <a:prstGeom prst="rect">
            <a:avLst/>
          </a:prstGeom>
          <a:solidFill>
            <a:srgbClr val="FF453A"/>
          </a:solidFill>
          <a:ln cap="flat" cmpd="sng" w="9525">
            <a:solidFill>
              <a:srgbClr val="FF45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"/>
          <p:cNvSpPr/>
          <p:nvPr/>
        </p:nvSpPr>
        <p:spPr>
          <a:xfrm>
            <a:off x="7543800" y="2352675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8E8E9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01" name="Google Shape;201;p12"/>
          <p:cNvSpPr/>
          <p:nvPr/>
        </p:nvSpPr>
        <p:spPr>
          <a:xfrm>
            <a:off x="8134350" y="2305050"/>
            <a:ext cx="2667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채용공고</a:t>
            </a:r>
            <a:endParaRPr/>
          </a:p>
        </p:txBody>
      </p:sp>
      <p:sp>
        <p:nvSpPr>
          <p:cNvPr id="202" name="Google Shape;202;p12"/>
          <p:cNvSpPr/>
          <p:nvPr/>
        </p:nvSpPr>
        <p:spPr>
          <a:xfrm>
            <a:off x="8134350" y="2743200"/>
            <a:ext cx="2152650" cy="28575"/>
          </a:xfrm>
          <a:prstGeom prst="rect">
            <a:avLst/>
          </a:prstGeom>
          <a:solidFill>
            <a:srgbClr val="ECECEA"/>
          </a:solidFill>
          <a:ln cap="flat" cmpd="sng" w="9525">
            <a:solidFill>
              <a:srgbClr val="ECE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2"/>
          <p:cNvSpPr/>
          <p:nvPr/>
        </p:nvSpPr>
        <p:spPr>
          <a:xfrm>
            <a:off x="7543800" y="3190875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8E8E9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04" name="Google Shape;204;p12"/>
          <p:cNvSpPr/>
          <p:nvPr/>
        </p:nvSpPr>
        <p:spPr>
          <a:xfrm>
            <a:off x="8134350" y="3143250"/>
            <a:ext cx="2667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 경험 자료</a:t>
            </a:r>
            <a:endParaRPr/>
          </a:p>
        </p:txBody>
      </p:sp>
      <p:sp>
        <p:nvSpPr>
          <p:cNvPr id="205" name="Google Shape;205;p12"/>
          <p:cNvSpPr/>
          <p:nvPr/>
        </p:nvSpPr>
        <p:spPr>
          <a:xfrm>
            <a:off x="8134350" y="3581400"/>
            <a:ext cx="2152650" cy="28575"/>
          </a:xfrm>
          <a:prstGeom prst="rect">
            <a:avLst/>
          </a:prstGeom>
          <a:solidFill>
            <a:srgbClr val="ECECEA"/>
          </a:solidFill>
          <a:ln cap="flat" cmpd="sng" w="9525">
            <a:solidFill>
              <a:srgbClr val="ECE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"/>
          <p:cNvSpPr/>
          <p:nvPr/>
        </p:nvSpPr>
        <p:spPr>
          <a:xfrm>
            <a:off x="7543800" y="4029075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8E8E93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07" name="Google Shape;207;p12"/>
          <p:cNvSpPr/>
          <p:nvPr/>
        </p:nvSpPr>
        <p:spPr>
          <a:xfrm>
            <a:off x="8134350" y="3981450"/>
            <a:ext cx="2667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자소서 문체</a:t>
            </a:r>
            <a:endParaRPr/>
          </a:p>
        </p:txBody>
      </p:sp>
      <p:sp>
        <p:nvSpPr>
          <p:cNvPr id="208" name="Google Shape;208;p12"/>
          <p:cNvSpPr/>
          <p:nvPr/>
        </p:nvSpPr>
        <p:spPr>
          <a:xfrm>
            <a:off x="8134350" y="4419600"/>
            <a:ext cx="2152650" cy="28575"/>
          </a:xfrm>
          <a:prstGeom prst="rect">
            <a:avLst/>
          </a:prstGeom>
          <a:solidFill>
            <a:srgbClr val="ECECEA"/>
          </a:solidFill>
          <a:ln cap="flat" cmpd="sng" w="9525">
            <a:solidFill>
              <a:srgbClr val="ECE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"/>
          <p:cNvSpPr/>
          <p:nvPr/>
        </p:nvSpPr>
        <p:spPr>
          <a:xfrm>
            <a:off x="685800" y="63817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13">
                <a:solidFill>
                  <a:srgbClr val="A0A0A6"/>
                </a:solidFill>
                <a:latin typeface="Arial"/>
                <a:ea typeface="Arial"/>
                <a:cs typeface="Arial"/>
                <a:sym typeface="Arial"/>
              </a:rPr>
              <a:t>Source: docs/API_CONTRACT.md materialStore planning contract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3"/>
          <p:cNvSpPr/>
          <p:nvPr/>
        </p:nvSpPr>
        <p:spPr>
          <a:xfrm>
            <a:off x="685800" y="514350"/>
            <a:ext cx="3238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8E8E93"/>
                </a:solidFill>
                <a:latin typeface="Arial"/>
                <a:ea typeface="Arial"/>
                <a:cs typeface="Arial"/>
                <a:sym typeface="Arial"/>
              </a:rPr>
              <a:t>PRINCIPLE 2</a:t>
            </a:r>
            <a:endParaRPr/>
          </a:p>
        </p:txBody>
      </p:sp>
      <p:sp>
        <p:nvSpPr>
          <p:cNvPr id="217" name="Google Shape;217;p13"/>
          <p:cNvSpPr/>
          <p:nvPr/>
        </p:nvSpPr>
        <p:spPr>
          <a:xfrm>
            <a:off x="10668000" y="476250"/>
            <a:ext cx="819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8E8E93"/>
                </a:solidFill>
                <a:latin typeface="Arial"/>
                <a:ea typeface="Arial"/>
                <a:cs typeface="Arial"/>
                <a:sym typeface="Arial"/>
              </a:rPr>
              <a:t>11.</a:t>
            </a:r>
            <a:endParaRPr/>
          </a:p>
        </p:txBody>
      </p:sp>
      <p:sp>
        <p:nvSpPr>
          <p:cNvPr id="218" name="Google Shape;218;p13"/>
          <p:cNvSpPr/>
          <p:nvPr/>
        </p:nvSpPr>
        <p:spPr>
          <a:xfrm>
            <a:off x="685800" y="1200150"/>
            <a:ext cx="6858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경험을 바로 문장으로 쓰기보다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근거로 정리</a:t>
            </a:r>
            <a:endParaRPr/>
          </a:p>
        </p:txBody>
      </p:sp>
      <p:sp>
        <p:nvSpPr>
          <p:cNvPr id="219" name="Google Shape;219;p13"/>
          <p:cNvSpPr/>
          <p:nvPr/>
        </p:nvSpPr>
        <p:spPr>
          <a:xfrm>
            <a:off x="742950" y="3086100"/>
            <a:ext cx="6096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5A6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경험 카드, 작성 가능한 주장, 보완이 필요한 내용을 나누어 초안과 연결</a:t>
            </a:r>
            <a:endParaRPr/>
          </a:p>
        </p:txBody>
      </p:sp>
      <p:sp>
        <p:nvSpPr>
          <p:cNvPr id="220" name="Google Shape;220;p13"/>
          <p:cNvSpPr/>
          <p:nvPr/>
        </p:nvSpPr>
        <p:spPr>
          <a:xfrm>
            <a:off x="7239000" y="2647950"/>
            <a:ext cx="11049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경험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</a:t>
            </a:r>
            <a:endParaRPr/>
          </a:p>
        </p:txBody>
      </p:sp>
      <p:sp>
        <p:nvSpPr>
          <p:cNvPr id="221" name="Google Shape;221;p13"/>
          <p:cNvSpPr/>
          <p:nvPr/>
        </p:nvSpPr>
        <p:spPr>
          <a:xfrm>
            <a:off x="7353300" y="3562350"/>
            <a:ext cx="876300" cy="28575"/>
          </a:xfrm>
          <a:prstGeom prst="rect">
            <a:avLst/>
          </a:prstGeom>
          <a:solidFill>
            <a:srgbClr val="0A84FF"/>
          </a:solidFill>
          <a:ln cap="flat" cmpd="sng" w="9525">
            <a:solidFill>
              <a:srgbClr val="0A8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"/>
          <p:cNvSpPr/>
          <p:nvPr/>
        </p:nvSpPr>
        <p:spPr>
          <a:xfrm>
            <a:off x="8420100" y="2990850"/>
            <a:ext cx="361950" cy="28575"/>
          </a:xfrm>
          <a:prstGeom prst="rect">
            <a:avLst/>
          </a:prstGeom>
          <a:solidFill>
            <a:srgbClr val="C7C7CC"/>
          </a:solidFill>
          <a:ln cap="flat" cmpd="sng" w="9525">
            <a:solidFill>
              <a:srgbClr val="C7C7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3"/>
          <p:cNvSpPr/>
          <p:nvPr/>
        </p:nvSpPr>
        <p:spPr>
          <a:xfrm>
            <a:off x="8591550" y="2647950"/>
            <a:ext cx="11049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주장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정리</a:t>
            </a:r>
            <a:endParaRPr/>
          </a:p>
        </p:txBody>
      </p:sp>
      <p:sp>
        <p:nvSpPr>
          <p:cNvPr id="224" name="Google Shape;224;p13"/>
          <p:cNvSpPr/>
          <p:nvPr/>
        </p:nvSpPr>
        <p:spPr>
          <a:xfrm>
            <a:off x="8705850" y="3562350"/>
            <a:ext cx="876300" cy="28575"/>
          </a:xfrm>
          <a:prstGeom prst="rect">
            <a:avLst/>
          </a:prstGeom>
          <a:solidFill>
            <a:srgbClr val="FF453A"/>
          </a:solidFill>
          <a:ln cap="flat" cmpd="sng" w="9525">
            <a:solidFill>
              <a:srgbClr val="FF45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3"/>
          <p:cNvSpPr/>
          <p:nvPr/>
        </p:nvSpPr>
        <p:spPr>
          <a:xfrm>
            <a:off x="9772650" y="2990850"/>
            <a:ext cx="361950" cy="28575"/>
          </a:xfrm>
          <a:prstGeom prst="rect">
            <a:avLst/>
          </a:prstGeom>
          <a:solidFill>
            <a:srgbClr val="C7C7CC"/>
          </a:solidFill>
          <a:ln cap="flat" cmpd="sng" w="9525">
            <a:solidFill>
              <a:srgbClr val="C7C7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3"/>
          <p:cNvSpPr/>
          <p:nvPr/>
        </p:nvSpPr>
        <p:spPr>
          <a:xfrm>
            <a:off x="9944100" y="2647950"/>
            <a:ext cx="11049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연결</a:t>
            </a:r>
            <a:endParaRPr/>
          </a:p>
        </p:txBody>
      </p:sp>
      <p:sp>
        <p:nvSpPr>
          <p:cNvPr id="227" name="Google Shape;227;p13"/>
          <p:cNvSpPr/>
          <p:nvPr/>
        </p:nvSpPr>
        <p:spPr>
          <a:xfrm>
            <a:off x="10058400" y="3562350"/>
            <a:ext cx="876300" cy="28575"/>
          </a:xfrm>
          <a:prstGeom prst="rect">
            <a:avLst/>
          </a:prstGeom>
          <a:solidFill>
            <a:srgbClr val="30D158"/>
          </a:solidFill>
          <a:ln cap="flat" cmpd="sng" w="9525">
            <a:solidFill>
              <a:srgbClr val="30D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3"/>
          <p:cNvSpPr/>
          <p:nvPr/>
        </p:nvSpPr>
        <p:spPr>
          <a:xfrm>
            <a:off x="685800" y="63817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13">
                <a:solidFill>
                  <a:srgbClr val="A0A0A6"/>
                </a:solidFill>
                <a:latin typeface="Arial"/>
                <a:ea typeface="Arial"/>
                <a:cs typeface="Arial"/>
                <a:sym typeface="Arial"/>
              </a:rPr>
              <a:t>Source: docs/API_CONTRACT.md /plan and /draft response contracts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303"/>
          </a:solidFill>
          <a:ln cap="flat" cmpd="sng" w="9525">
            <a:solidFill>
              <a:srgbClr val="0303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4"/>
          <p:cNvSpPr/>
          <p:nvPr/>
        </p:nvSpPr>
        <p:spPr>
          <a:xfrm>
            <a:off x="685800" y="514350"/>
            <a:ext cx="3238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C7C7CC"/>
                </a:solidFill>
                <a:latin typeface="Arial"/>
                <a:ea typeface="Arial"/>
                <a:cs typeface="Arial"/>
                <a:sym typeface="Arial"/>
              </a:rPr>
              <a:t>PRINCIPLE 3</a:t>
            </a:r>
            <a:endParaRPr/>
          </a:p>
        </p:txBody>
      </p:sp>
      <p:sp>
        <p:nvSpPr>
          <p:cNvPr id="236" name="Google Shape;236;p14"/>
          <p:cNvSpPr/>
          <p:nvPr/>
        </p:nvSpPr>
        <p:spPr>
          <a:xfrm>
            <a:off x="10668000" y="476250"/>
            <a:ext cx="819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C7C7CC"/>
                </a:solidFill>
                <a:latin typeface="Arial"/>
                <a:ea typeface="Arial"/>
                <a:cs typeface="Arial"/>
                <a:sym typeface="Arial"/>
              </a:rPr>
              <a:t>12.</a:t>
            </a:r>
            <a:endParaRPr/>
          </a:p>
        </p:txBody>
      </p:sp>
      <p:sp>
        <p:nvSpPr>
          <p:cNvPr id="237" name="Google Shape;237;p14"/>
          <p:cNvSpPr/>
          <p:nvPr/>
        </p:nvSpPr>
        <p:spPr>
          <a:xfrm>
            <a:off x="685800" y="1143000"/>
            <a:ext cx="5905500" cy="1314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75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근거가 부족할 때,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75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완성문보다 질문</a:t>
            </a:r>
            <a:endParaRPr/>
          </a:p>
        </p:txBody>
      </p:sp>
      <p:sp>
        <p:nvSpPr>
          <p:cNvPr id="238" name="Google Shape;238;p14"/>
          <p:cNvSpPr/>
          <p:nvPr/>
        </p:nvSpPr>
        <p:spPr>
          <a:xfrm>
            <a:off x="990600" y="3543300"/>
            <a:ext cx="4762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확인하고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다시 작성하기</a:t>
            </a:r>
            <a:endParaRPr/>
          </a:p>
        </p:txBody>
      </p:sp>
      <p:sp>
        <p:nvSpPr>
          <p:cNvPr id="239" name="Google Shape;239;p14"/>
          <p:cNvSpPr/>
          <p:nvPr/>
        </p:nvSpPr>
        <p:spPr>
          <a:xfrm>
            <a:off x="7239000" y="1847850"/>
            <a:ext cx="3524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F2F2F7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 역할은?</a:t>
            </a:r>
            <a:endParaRPr/>
          </a:p>
        </p:txBody>
      </p:sp>
      <p:sp>
        <p:nvSpPr>
          <p:cNvPr id="240" name="Google Shape;240;p14"/>
          <p:cNvSpPr/>
          <p:nvPr/>
        </p:nvSpPr>
        <p:spPr>
          <a:xfrm>
            <a:off x="7239000" y="2590800"/>
            <a:ext cx="2857500" cy="28575"/>
          </a:xfrm>
          <a:prstGeom prst="rect">
            <a:avLst/>
          </a:prstGeom>
          <a:solidFill>
            <a:srgbClr val="0A84FF"/>
          </a:solidFill>
          <a:ln cap="flat" cmpd="sng" w="9525">
            <a:solidFill>
              <a:srgbClr val="0A8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4"/>
          <p:cNvSpPr/>
          <p:nvPr/>
        </p:nvSpPr>
        <p:spPr>
          <a:xfrm>
            <a:off x="7239000" y="2800350"/>
            <a:ext cx="3524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F2F2F7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문제와 해결 방법은?</a:t>
            </a:r>
            <a:endParaRPr/>
          </a:p>
        </p:txBody>
      </p:sp>
      <p:sp>
        <p:nvSpPr>
          <p:cNvPr id="242" name="Google Shape;242;p14"/>
          <p:cNvSpPr/>
          <p:nvPr/>
        </p:nvSpPr>
        <p:spPr>
          <a:xfrm>
            <a:off x="7239000" y="3543300"/>
            <a:ext cx="2857500" cy="28575"/>
          </a:xfrm>
          <a:prstGeom prst="rect">
            <a:avLst/>
          </a:prstGeom>
          <a:solidFill>
            <a:srgbClr val="FF453A"/>
          </a:solidFill>
          <a:ln cap="flat" cmpd="sng" w="9525">
            <a:solidFill>
              <a:srgbClr val="FF45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4"/>
          <p:cNvSpPr/>
          <p:nvPr/>
        </p:nvSpPr>
        <p:spPr>
          <a:xfrm>
            <a:off x="7239000" y="3752850"/>
            <a:ext cx="3524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F2F2F7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 가능한 결과는?</a:t>
            </a:r>
            <a:endParaRPr/>
          </a:p>
        </p:txBody>
      </p:sp>
      <p:sp>
        <p:nvSpPr>
          <p:cNvPr id="244" name="Google Shape;244;p14"/>
          <p:cNvSpPr/>
          <p:nvPr/>
        </p:nvSpPr>
        <p:spPr>
          <a:xfrm>
            <a:off x="7239000" y="4495800"/>
            <a:ext cx="2857500" cy="28575"/>
          </a:xfrm>
          <a:prstGeom prst="rect">
            <a:avLst/>
          </a:prstGeom>
          <a:solidFill>
            <a:srgbClr val="30D158"/>
          </a:solidFill>
          <a:ln cap="flat" cmpd="sng" w="9525">
            <a:solidFill>
              <a:srgbClr val="30D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4"/>
          <p:cNvSpPr/>
          <p:nvPr/>
        </p:nvSpPr>
        <p:spPr>
          <a:xfrm>
            <a:off x="685800" y="63817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13">
                <a:solidFill>
                  <a:srgbClr val="74777D"/>
                </a:solidFill>
                <a:latin typeface="Arial"/>
                <a:ea typeface="Arial"/>
                <a:cs typeface="Arial"/>
                <a:sym typeface="Arial"/>
              </a:rPr>
              <a:t>Source: evidence-locked drafting and GAP_INTERVIEWING behavior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2"/>
          </a:solidFill>
          <a:ln cap="flat" cmpd="sng" w="9525">
            <a:solidFill>
              <a:srgbClr val="F5F5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5"/>
          <p:cNvSpPr/>
          <p:nvPr/>
        </p:nvSpPr>
        <p:spPr>
          <a:xfrm>
            <a:off x="685800" y="514350"/>
            <a:ext cx="3238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8E8E93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</p:txBody>
      </p:sp>
      <p:sp>
        <p:nvSpPr>
          <p:cNvPr id="253" name="Google Shape;253;p15"/>
          <p:cNvSpPr/>
          <p:nvPr/>
        </p:nvSpPr>
        <p:spPr>
          <a:xfrm>
            <a:off x="10668000" y="476250"/>
            <a:ext cx="819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8E8E93"/>
                </a:solidFill>
                <a:latin typeface="Arial"/>
                <a:ea typeface="Arial"/>
                <a:cs typeface="Arial"/>
                <a:sym typeface="Arial"/>
              </a:rPr>
              <a:t>13.</a:t>
            </a:r>
            <a:endParaRPr/>
          </a:p>
        </p:txBody>
      </p:sp>
      <p:sp>
        <p:nvSpPr>
          <p:cNvPr id="254" name="Google Shape;254;p15"/>
          <p:cNvSpPr/>
          <p:nvPr/>
        </p:nvSpPr>
        <p:spPr>
          <a:xfrm>
            <a:off x="685800" y="1238250"/>
            <a:ext cx="6477000" cy="1295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초안,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본문만 생성하지 않기</a:t>
            </a:r>
            <a:endParaRPr/>
          </a:p>
        </p:txBody>
      </p:sp>
      <p:sp>
        <p:nvSpPr>
          <p:cNvPr id="255" name="Google Shape;255;p15"/>
          <p:cNvSpPr/>
          <p:nvPr/>
        </p:nvSpPr>
        <p:spPr>
          <a:xfrm>
            <a:off x="971550" y="3752850"/>
            <a:ext cx="1619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A84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Plan</a:t>
            </a:r>
            <a:endParaRPr/>
          </a:p>
        </p:txBody>
      </p:sp>
      <p:sp>
        <p:nvSpPr>
          <p:cNvPr id="256" name="Google Shape;256;p15"/>
          <p:cNvSpPr/>
          <p:nvPr/>
        </p:nvSpPr>
        <p:spPr>
          <a:xfrm>
            <a:off x="971550" y="440055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8E8E93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전략 개요</a:t>
            </a:r>
            <a:endParaRPr/>
          </a:p>
        </p:txBody>
      </p:sp>
      <p:sp>
        <p:nvSpPr>
          <p:cNvPr id="257" name="Google Shape;257;p15"/>
          <p:cNvSpPr/>
          <p:nvPr/>
        </p:nvSpPr>
        <p:spPr>
          <a:xfrm>
            <a:off x="2628900" y="3924300"/>
            <a:ext cx="552450" cy="28575"/>
          </a:xfrm>
          <a:prstGeom prst="rect">
            <a:avLst/>
          </a:prstGeom>
          <a:solidFill>
            <a:srgbClr val="C7C7CC"/>
          </a:solidFill>
          <a:ln cap="flat" cmpd="sng" w="9525">
            <a:solidFill>
              <a:srgbClr val="C7C7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5"/>
          <p:cNvSpPr/>
          <p:nvPr/>
        </p:nvSpPr>
        <p:spPr>
          <a:xfrm>
            <a:off x="3657600" y="3752850"/>
            <a:ext cx="1619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453A"/>
                </a:solidFill>
                <a:latin typeface="Malgun Gothic"/>
                <a:ea typeface="Malgun Gothic"/>
                <a:cs typeface="Malgun Gothic"/>
                <a:sym typeface="Malgun Gothic"/>
              </a:rPr>
              <a:t>Draft</a:t>
            </a:r>
            <a:endParaRPr/>
          </a:p>
        </p:txBody>
      </p:sp>
      <p:sp>
        <p:nvSpPr>
          <p:cNvPr id="259" name="Google Shape;259;p15"/>
          <p:cNvSpPr/>
          <p:nvPr/>
        </p:nvSpPr>
        <p:spPr>
          <a:xfrm>
            <a:off x="3657600" y="440055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8E8E93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초안 근거</a:t>
            </a:r>
            <a:endParaRPr/>
          </a:p>
        </p:txBody>
      </p:sp>
      <p:sp>
        <p:nvSpPr>
          <p:cNvPr id="260" name="Google Shape;260;p15"/>
          <p:cNvSpPr/>
          <p:nvPr/>
        </p:nvSpPr>
        <p:spPr>
          <a:xfrm>
            <a:off x="5314950" y="3924300"/>
            <a:ext cx="552450" cy="28575"/>
          </a:xfrm>
          <a:prstGeom prst="rect">
            <a:avLst/>
          </a:prstGeom>
          <a:solidFill>
            <a:srgbClr val="C7C7CC"/>
          </a:solidFill>
          <a:ln cap="flat" cmpd="sng" w="9525">
            <a:solidFill>
              <a:srgbClr val="C7C7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5"/>
          <p:cNvSpPr/>
          <p:nvPr/>
        </p:nvSpPr>
        <p:spPr>
          <a:xfrm>
            <a:off x="6343650" y="3752850"/>
            <a:ext cx="1619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9F0A"/>
                </a:solidFill>
                <a:latin typeface="Malgun Gothic"/>
                <a:ea typeface="Malgun Gothic"/>
                <a:cs typeface="Malgun Gothic"/>
                <a:sym typeface="Malgun Gothic"/>
              </a:rPr>
              <a:t>Review</a:t>
            </a:r>
            <a:endParaRPr/>
          </a:p>
        </p:txBody>
      </p:sp>
      <p:sp>
        <p:nvSpPr>
          <p:cNvPr id="262" name="Google Shape;262;p15"/>
          <p:cNvSpPr/>
          <p:nvPr/>
        </p:nvSpPr>
        <p:spPr>
          <a:xfrm>
            <a:off x="6343650" y="440055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8E8E93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자가 검토</a:t>
            </a:r>
            <a:endParaRPr/>
          </a:p>
        </p:txBody>
      </p:sp>
      <p:sp>
        <p:nvSpPr>
          <p:cNvPr id="263" name="Google Shape;263;p15"/>
          <p:cNvSpPr/>
          <p:nvPr/>
        </p:nvSpPr>
        <p:spPr>
          <a:xfrm>
            <a:off x="8001000" y="3924300"/>
            <a:ext cx="552450" cy="28575"/>
          </a:xfrm>
          <a:prstGeom prst="rect">
            <a:avLst/>
          </a:prstGeom>
          <a:solidFill>
            <a:srgbClr val="C7C7CC"/>
          </a:solidFill>
          <a:ln cap="flat" cmpd="sng" w="9525">
            <a:solidFill>
              <a:srgbClr val="C7C7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5"/>
          <p:cNvSpPr/>
          <p:nvPr/>
        </p:nvSpPr>
        <p:spPr>
          <a:xfrm>
            <a:off x="9029700" y="3752850"/>
            <a:ext cx="1619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0D158"/>
                </a:solidFill>
                <a:latin typeface="Malgun Gothic"/>
                <a:ea typeface="Malgun Gothic"/>
                <a:cs typeface="Malgun Gothic"/>
                <a:sym typeface="Malgun Gothic"/>
              </a:rPr>
              <a:t>Revise</a:t>
            </a:r>
            <a:endParaRPr/>
          </a:p>
        </p:txBody>
      </p:sp>
      <p:sp>
        <p:nvSpPr>
          <p:cNvPr id="265" name="Google Shape;265;p15"/>
          <p:cNvSpPr/>
          <p:nvPr/>
        </p:nvSpPr>
        <p:spPr>
          <a:xfrm>
            <a:off x="9029700" y="440055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8E8E93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 유지 수정</a:t>
            </a:r>
            <a:endParaRPr/>
          </a:p>
        </p:txBody>
      </p:sp>
      <p:sp>
        <p:nvSpPr>
          <p:cNvPr id="266" name="Google Shape;266;p15"/>
          <p:cNvSpPr/>
          <p:nvPr/>
        </p:nvSpPr>
        <p:spPr>
          <a:xfrm>
            <a:off x="685800" y="63817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13">
                <a:solidFill>
                  <a:srgbClr val="A0A0A6"/>
                </a:solidFill>
                <a:latin typeface="Arial"/>
                <a:ea typeface="Arial"/>
                <a:cs typeface="Arial"/>
                <a:sym typeface="Arial"/>
              </a:rPr>
              <a:t>Source: docs/API_CONTRACT.md /plan, /draft, /revise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303"/>
          </a:solidFill>
          <a:ln cap="flat" cmpd="sng" w="9525">
            <a:solidFill>
              <a:srgbClr val="0303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6"/>
          <p:cNvSpPr/>
          <p:nvPr/>
        </p:nvSpPr>
        <p:spPr>
          <a:xfrm>
            <a:off x="685800" y="514350"/>
            <a:ext cx="3238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C7C7CC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/>
          </a:p>
        </p:txBody>
      </p:sp>
      <p:sp>
        <p:nvSpPr>
          <p:cNvPr id="274" name="Google Shape;274;p16"/>
          <p:cNvSpPr/>
          <p:nvPr/>
        </p:nvSpPr>
        <p:spPr>
          <a:xfrm>
            <a:off x="10668000" y="476250"/>
            <a:ext cx="819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C7C7CC"/>
                </a:solidFill>
                <a:latin typeface="Arial"/>
                <a:ea typeface="Arial"/>
                <a:cs typeface="Arial"/>
                <a:sym typeface="Arial"/>
              </a:rPr>
              <a:t>14.</a:t>
            </a:r>
            <a:endParaRPr/>
          </a:p>
        </p:txBody>
      </p:sp>
      <p:sp>
        <p:nvSpPr>
          <p:cNvPr id="275" name="Google Shape;275;p16"/>
          <p:cNvSpPr/>
          <p:nvPr/>
        </p:nvSpPr>
        <p:spPr>
          <a:xfrm>
            <a:off x="723900" y="1409700"/>
            <a:ext cx="6667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핵심은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대필이 아닌 작성 흐름</a:t>
            </a:r>
            <a:endParaRPr/>
          </a:p>
        </p:txBody>
      </p:sp>
      <p:sp>
        <p:nvSpPr>
          <p:cNvPr id="276" name="Google Shape;276;p16"/>
          <p:cNvSpPr/>
          <p:nvPr/>
        </p:nvSpPr>
        <p:spPr>
          <a:xfrm>
            <a:off x="762000" y="3467100"/>
            <a:ext cx="65722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D1D1D6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공고 문맥 파악, 근거 정리, 부족한 정보 확인까지 이어지는 설명 가능한 과정</a:t>
            </a:r>
            <a:endParaRPr/>
          </a:p>
        </p:txBody>
      </p:sp>
      <p:sp>
        <p:nvSpPr>
          <p:cNvPr id="277" name="Google Shape;277;p16"/>
          <p:cNvSpPr/>
          <p:nvPr/>
        </p:nvSpPr>
        <p:spPr>
          <a:xfrm>
            <a:off x="781050" y="5124450"/>
            <a:ext cx="895350" cy="28575"/>
          </a:xfrm>
          <a:prstGeom prst="rect">
            <a:avLst/>
          </a:prstGeom>
          <a:solidFill>
            <a:srgbClr val="0A84FF"/>
          </a:solidFill>
          <a:ln cap="flat" cmpd="sng" w="9525">
            <a:solidFill>
              <a:srgbClr val="0A8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6"/>
          <p:cNvSpPr/>
          <p:nvPr/>
        </p:nvSpPr>
        <p:spPr>
          <a:xfrm>
            <a:off x="1924050" y="5124450"/>
            <a:ext cx="895350" cy="28575"/>
          </a:xfrm>
          <a:prstGeom prst="rect">
            <a:avLst/>
          </a:prstGeom>
          <a:solidFill>
            <a:srgbClr val="30D158"/>
          </a:solidFill>
          <a:ln cap="flat" cmpd="sng" w="9525">
            <a:solidFill>
              <a:srgbClr val="30D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6"/>
          <p:cNvSpPr/>
          <p:nvPr/>
        </p:nvSpPr>
        <p:spPr>
          <a:xfrm>
            <a:off x="3067050" y="5124450"/>
            <a:ext cx="895350" cy="28575"/>
          </a:xfrm>
          <a:prstGeom prst="rect">
            <a:avLst/>
          </a:prstGeom>
          <a:solidFill>
            <a:srgbClr val="FF453A"/>
          </a:solidFill>
          <a:ln cap="flat" cmpd="sng" w="9525">
            <a:solidFill>
              <a:srgbClr val="FF45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6"/>
          <p:cNvSpPr/>
          <p:nvPr/>
        </p:nvSpPr>
        <p:spPr>
          <a:xfrm>
            <a:off x="781050" y="5543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C7C7CC"/>
                </a:solidFill>
                <a:latin typeface="Arial"/>
                <a:ea typeface="Arial"/>
                <a:cs typeface="Arial"/>
                <a:sym typeface="Arial"/>
              </a:rPr>
              <a:t>설명 가능한 작성 흐름</a:t>
            </a:r>
            <a:endParaRPr/>
          </a:p>
        </p:txBody>
      </p:sp>
      <p:sp>
        <p:nvSpPr>
          <p:cNvPr id="281" name="Google Shape;281;p16"/>
          <p:cNvSpPr/>
          <p:nvPr/>
        </p:nvSpPr>
        <p:spPr>
          <a:xfrm>
            <a:off x="685800" y="63817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13">
                <a:solidFill>
                  <a:srgbClr val="74777D"/>
                </a:solidFill>
                <a:latin typeface="Arial"/>
                <a:ea typeface="Arial"/>
                <a:cs typeface="Arial"/>
                <a:sym typeface="Arial"/>
              </a:rPr>
              <a:t>Source: Neet2Work product synthesis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303"/>
          </a:solidFill>
          <a:ln cap="flat" cmpd="sng" w="9525">
            <a:solidFill>
              <a:srgbClr val="0303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7"/>
          <p:cNvSpPr/>
          <p:nvPr/>
        </p:nvSpPr>
        <p:spPr>
          <a:xfrm>
            <a:off x="685800" y="514350"/>
            <a:ext cx="3238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C7C7CC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/>
          </a:p>
        </p:txBody>
      </p:sp>
      <p:sp>
        <p:nvSpPr>
          <p:cNvPr id="289" name="Google Shape;289;p17"/>
          <p:cNvSpPr/>
          <p:nvPr/>
        </p:nvSpPr>
        <p:spPr>
          <a:xfrm>
            <a:off x="10668000" y="476250"/>
            <a:ext cx="819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C7C7CC"/>
                </a:solidFill>
                <a:latin typeface="Arial"/>
                <a:ea typeface="Arial"/>
                <a:cs typeface="Arial"/>
                <a:sym typeface="Arial"/>
              </a:rPr>
              <a:t>15.</a:t>
            </a:r>
            <a:endParaRPr/>
          </a:p>
        </p:txBody>
      </p:sp>
      <p:sp>
        <p:nvSpPr>
          <p:cNvPr id="290" name="Google Shape;290;p17"/>
          <p:cNvSpPr/>
          <p:nvPr/>
        </p:nvSpPr>
        <p:spPr>
          <a:xfrm>
            <a:off x="781050" y="2000250"/>
            <a:ext cx="5905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질문 주세요.</a:t>
            </a:r>
            <a:endParaRPr/>
          </a:p>
        </p:txBody>
      </p:sp>
      <p:sp>
        <p:nvSpPr>
          <p:cNvPr id="291" name="Google Shape;291;p17"/>
          <p:cNvSpPr/>
          <p:nvPr/>
        </p:nvSpPr>
        <p:spPr>
          <a:xfrm>
            <a:off x="838200" y="3390900"/>
            <a:ext cx="6477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D1D1D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제품 흐름, AI 자소서 작성 방식, 기술스택, 작업 과정 중 궁금한 부분을 편하게 질문해 주세요.</a:t>
            </a:r>
            <a:endParaRPr/>
          </a:p>
        </p:txBody>
      </p:sp>
      <p:sp>
        <p:nvSpPr>
          <p:cNvPr id="292" name="Google Shape;292;p17"/>
          <p:cNvSpPr/>
          <p:nvPr/>
        </p:nvSpPr>
        <p:spPr>
          <a:xfrm>
            <a:off x="8324850" y="226695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Neet2Work</a:t>
            </a:r>
            <a:endParaRPr/>
          </a:p>
        </p:txBody>
      </p:sp>
      <p:sp>
        <p:nvSpPr>
          <p:cNvPr id="293" name="Google Shape;293;p17"/>
          <p:cNvSpPr/>
          <p:nvPr/>
        </p:nvSpPr>
        <p:spPr>
          <a:xfrm>
            <a:off x="8362950" y="3238500"/>
            <a:ext cx="23812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2F2F7"/>
                </a:solidFill>
                <a:latin typeface="Malgun Gothic"/>
                <a:ea typeface="Malgun Gothic"/>
                <a:cs typeface="Malgun Gothic"/>
                <a:sym typeface="Malgun Gothic"/>
              </a:rPr>
              <a:t>Jobs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2F2F7"/>
                </a:solidFill>
                <a:latin typeface="Malgun Gothic"/>
                <a:ea typeface="Malgun Gothic"/>
                <a:cs typeface="Malgun Gothic"/>
                <a:sym typeface="Malgun Gothic"/>
              </a:rPr>
              <a:t>Documents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2F2F7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Draft</a:t>
            </a:r>
            <a:endParaRPr/>
          </a:p>
        </p:txBody>
      </p:sp>
      <p:sp>
        <p:nvSpPr>
          <p:cNvPr id="294" name="Google Shape;294;p17"/>
          <p:cNvSpPr/>
          <p:nvPr/>
        </p:nvSpPr>
        <p:spPr>
          <a:xfrm>
            <a:off x="685800" y="63817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13">
                <a:solidFill>
                  <a:srgbClr val="74777D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